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Barlow SemiBold"/>
      <p:regular r:id="rId201314"/>
    </p:embeddedFont>
    <p:embeddedFont>
      <p:font typeface="Barlow Thin"/>
      <p:regular r:id="rId201315"/>
    </p:embeddedFont>
    <p:embeddedFont>
      <p:font typeface="Barlow ExtraLight"/>
      <p:regular r:id="rId201316"/>
    </p:embeddedFont>
    <p:embeddedFont>
      <p:font typeface="Barlow Light"/>
      <p:regular r:id="rId201317"/>
    </p:embeddedFont>
    <p:embeddedFont>
      <p:font typeface="Barlow"/>
      <p:regular r:id="rId201318"/>
    </p:embeddedFont>
    <p:embeddedFont>
      <p:font typeface="Barlow Medium"/>
      <p:regular r:id="rId201319"/>
    </p:embeddedFont>
    <p:embeddedFont>
      <p:font typeface="Barlow Bold"/>
      <p:regular r:id="rId201320"/>
    </p:embeddedFont>
    <p:embeddedFont>
      <p:font typeface="Barlow ExtraBold"/>
      <p:regular r:id="rId201321"/>
    </p:embeddedFont>
    <p:embeddedFont>
      <p:font typeface="Barlow Black"/>
      <p:regular r:id="rId201322"/>
    </p:embeddedFont>
    <p:embeddedFont>
      <p:font typeface="Open Sans Light"/>
      <p:regular r:id="rId201323"/>
    </p:embeddedFont>
    <p:embeddedFont>
      <p:font typeface="Open Sans Bold"/>
      <p:regular r:id="rId201324"/>
    </p:embeddedFont>
    <p:embeddedFont>
      <p:font typeface="Open Sans"/>
      <p:regular r:id="rId201325"/>
    </p:embeddedFont>
    <p:embeddedFont>
      <p:font typeface="Open Sans Medium"/>
      <p:regular r:id="rId201326"/>
    </p:embeddedFont>
    <p:embeddedFont>
      <p:font typeface="Open Sans SemiBold"/>
      <p:regular r:id="rId201327"/>
    </p:embeddedFont>
    <p:embeddedFont>
      <p:font typeface="Open Sans ExtraBold"/>
      <p:regular r:id="rId2013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3-2.jpeg"/><Relationship Id="rId3" Type="http://schemas.openxmlformats.org/officeDocument/2006/relationships/image" Target="../media/image-1002-2.png"/><Relationship Id="rId5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4-2.jpeg"/><Relationship Id="rId3" Type="http://schemas.openxmlformats.org/officeDocument/2006/relationships/image" Target="../media/image-1002-2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DE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DED">
              <a:alpha val="9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DED">
              <a:alpha val="6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DED">
              <a:alpha val="9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DED">
              <a:alpha val="6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7.png"/><Relationship Id="rId10" Type="http://schemas.openxmlformats.org/officeDocument/2006/relationships/image" Target="../media/image-3-8.svg"/><Relationship Id="rId11" Type="http://schemas.openxmlformats.org/officeDocument/2006/relationships/image" Target="../media/image-3-7.png"/><Relationship Id="rId12" Type="http://schemas.openxmlformats.org/officeDocument/2006/relationships/image" Target="../media/image-3-8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27779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460327"/>
            <a:ext cx="10868745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 Statement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661475" y="392519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Uncovering the core issues that hinder progress and innovation</a:t>
            </a:r>
            <a:endParaRPr lang="en-US" sz="2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907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 &amp; Solution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356682" y="1325364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2868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Addressing the core challenges with strategic interventions.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846362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Problem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46809"/>
            <a:ext cx="5239810" cy="12109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6163" y="2425303"/>
            <a:ext cx="480663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286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Inefficient Workflows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16163" y="2808982"/>
            <a:ext cx="480663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2868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Manual, repetitive tasks drain resources and slow down execution.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592314"/>
            <a:ext cx="5239810" cy="12109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6163" y="3770809"/>
            <a:ext cx="480663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286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Fragmented Data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916163" y="4154488"/>
            <a:ext cx="480663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2868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Siloed information leads to inconsistent reporting and missed opportunities.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937820"/>
            <a:ext cx="5239810" cy="12109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6163" y="5116314"/>
            <a:ext cx="480663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286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Stalled Innovation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916163" y="5499993"/>
            <a:ext cx="480663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2868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Rigid processes and lack of experimentation hinder new product development.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181868" y="1711821"/>
            <a:ext cx="5469594" cy="4588272"/>
          </a:xfrm>
          <a:prstGeom prst="roundRect">
            <a:avLst>
              <a:gd name="adj" fmla="val 521"/>
            </a:avLst>
          </a:prstGeom>
          <a:solidFill>
            <a:srgbClr val="002868">
              <a:alpha val="95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6341309" y="1846362"/>
            <a:ext cx="515071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Solution</a:t>
            </a:r>
            <a:endParaRPr lang="en-US" sz="15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41309" y="2246809"/>
            <a:ext cx="5150713" cy="12109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95997" y="2425303"/>
            <a:ext cx="471753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Automated Processes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6595997" y="2808982"/>
            <a:ext cx="471753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Implement smart automation to streamline operations and boost productivity.</a:t>
            </a:r>
            <a:endParaRPr lang="en-US" sz="12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41309" y="3592314"/>
            <a:ext cx="5150713" cy="12109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95997" y="3770809"/>
            <a:ext cx="471753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Unified Data Platform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6595997" y="4154488"/>
            <a:ext cx="471753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Centralize data for comprehensive insights and informed decision-making.</a:t>
            </a:r>
            <a:endParaRPr lang="en-US" sz="12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41309" y="4937820"/>
            <a:ext cx="5150713" cy="121096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595997" y="5116314"/>
            <a:ext cx="471753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Agile Development</a:t>
            </a:r>
            <a:endParaRPr lang="en-US" sz="1550" dirty="0"/>
          </a:p>
        </p:txBody>
      </p:sp>
      <p:sp>
        <p:nvSpPr>
          <p:cNvPr id="24" name="Text 16"/>
          <p:cNvSpPr/>
          <p:nvPr/>
        </p:nvSpPr>
        <p:spPr>
          <a:xfrm>
            <a:off x="6595997" y="5499993"/>
            <a:ext cx="471753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Foster a culture of rapid prototyping and continuous improvement.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90600"/>
            <a:ext cx="8737381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29631"/>
            <a:ext cx="10868745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Thank You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661475" y="359449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Let's connect and build the future together.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356682" y="4350445"/>
            <a:ext cx="11478330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info@yourcompany.com | +1 123-456-7890 | yourcompany.com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2026-07-30T13:59:14Z</dcterms:created>
  <dcterms:modified xsi:type="dcterms:W3CDTF">2026-07-30T13:59:14Z</dcterms:modified>
</cp:coreProperties>
</file>